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Emphasis on perishability — miraa must reach markets within 24-48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miraa is; its economic importance; and why the clock creates an optimization imperative.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supply/demand setup. The problem is balanced — no dummy variable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cost formula. Key insight: urgency premiums are highest for nearby markets (same-day delivery windows).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VAM iteration. Emphasise the penalty logic and tie-breaking rule in Iteration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complete allocation table. Every kg accounted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number breathe. VAM found this in 5 iterations.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practical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group member names and admission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217920" y="-274320"/>
            <a:ext cx="3200400" cy="320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-731520" y="2926080"/>
            <a:ext cx="2560320" cy="25603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82880" y="91440"/>
            <a:ext cx="137160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8302  COMPUTATIONAL TECHNIQUES IN DATA SCIENCE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548640" y="13258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Racing the Clock</a:t>
            </a:r>
            <a:endParaRPr lang="en-US" sz="6000" dirty="0"/>
          </a:p>
        </p:txBody>
      </p:sp>
      <p:sp>
        <p:nvSpPr>
          <p:cNvPr id="7" name="Text 2"/>
          <p:cNvSpPr/>
          <p:nvPr/>
        </p:nvSpPr>
        <p:spPr>
          <a:xfrm>
            <a:off x="548640" y="2240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the Miraa Supply Chain with VAM</a:t>
            </a:r>
            <a:endParaRPr lang="en-US" sz="2200" dirty="0"/>
          </a:p>
        </p:txBody>
      </p:sp>
      <p:sp>
        <p:nvSpPr>
          <p:cNvPr id="8" name="Shape 3"/>
          <p:cNvSpPr/>
          <p:nvPr/>
        </p:nvSpPr>
        <p:spPr>
          <a:xfrm>
            <a:off x="548640" y="2926080"/>
            <a:ext cx="5029200" cy="457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48640" y="31089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highlands of Meru County to markets across Kenya, a perishability-adjusted transportation model that delivers freshness at minimum cost.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651760"/>
            <a:ext cx="3931920" cy="21031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Strathmore University  Institute of Mathematical Sciences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7132320" y="-457200"/>
            <a:ext cx="2560320" cy="25603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5400000">
            <a:off x="7772400" y="320040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COMMODITY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5486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Miraa  Green Gold of Meru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411480" y="15544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64208"/>
            <a:ext cx="914400" cy="914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48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24-48 hrs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48640" y="30906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from harvest to market before potency lost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3291840" y="15544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64208"/>
            <a:ext cx="914400" cy="914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9184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Catha edulis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3429000" y="30906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perishable stimulant crop, Kenya's highland gem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172200" y="155448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64208"/>
            <a:ext cx="914400" cy="914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7220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kg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309360" y="30906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optimised in this study across 3 sources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11480" y="4114800"/>
            <a:ext cx="8321040" cy="777240"/>
          </a:xfrm>
          <a:prstGeom prst="rect">
            <a:avLst/>
          </a:prstGeom>
          <a:solidFill>
            <a:srgbClr val="0D2B1A">
              <a:alpha val="7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594360" y="413308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"Speed is not an option. It is the entire business model. VAM gives Meru farmers a scientific edge."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-457200" y="-27432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Sources  4 Destinations  1 Balanced Problem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256032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1752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(Supply)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017520" y="16002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1546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Maua (S1)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1546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kg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017520" y="2404872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154680" y="2450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Laare (S2)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154680" y="2724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kg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017520" y="3209544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154680" y="3255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Kangeta (S3)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154680" y="3529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 kg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8932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(Demand)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89320" y="1600200"/>
            <a:ext cx="3017520" cy="576072"/>
          </a:xfrm>
          <a:prstGeom prst="roundRect">
            <a:avLst>
              <a:gd name="adj" fmla="val 12698"/>
            </a:avLst>
          </a:prstGeom>
          <a:solidFill>
            <a:srgbClr val="1A352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108192" y="1636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Isiolo (D1)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108192" y="19019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kg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89320" y="2286000"/>
            <a:ext cx="3017520" cy="576072"/>
          </a:xfrm>
          <a:prstGeom prst="roundRect">
            <a:avLst>
              <a:gd name="adj" fmla="val 12698"/>
            </a:avLst>
          </a:prstGeom>
          <a:solidFill>
            <a:srgbClr val="1A352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08192" y="23225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Kilifi (D2)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08192" y="25877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kg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989320" y="2971800"/>
            <a:ext cx="3017520" cy="576072"/>
          </a:xfrm>
          <a:prstGeom prst="roundRect">
            <a:avLst>
              <a:gd name="adj" fmla="val 12698"/>
            </a:avLst>
          </a:prstGeom>
          <a:solidFill>
            <a:srgbClr val="1A352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108192" y="30083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Eastleigh-Nairobi (D3)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08192" y="32735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kg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989320" y="3657600"/>
            <a:ext cx="3017520" cy="576072"/>
          </a:xfrm>
          <a:prstGeom prst="roundRect">
            <a:avLst>
              <a:gd name="adj" fmla="val 12698"/>
            </a:avLst>
          </a:prstGeom>
          <a:solidFill>
            <a:srgbClr val="1A352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108192" y="36941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Likoni-Mombasa (D4)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108192" y="39593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kg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017520" y="4251960"/>
            <a:ext cx="5989320" cy="594360"/>
          </a:xfrm>
          <a:prstGeom prst="roundRect">
            <a:avLst>
              <a:gd name="adj" fmla="val 15385"/>
            </a:avLst>
          </a:prstGeom>
          <a:solidFill>
            <a:srgbClr val="2E7D4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3017520" y="4251960"/>
            <a:ext cx="5989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 Total Supply = Total Demand = 6,000 kg  No dummy node required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955280" y="-1828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MATRIX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6576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cell cost was determined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1A4731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c(i,j)  =  c_base  +  c_road  +  c_vehicle  +  c_urgency   (KES per kg)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1993392" cy="749808"/>
          </a:xfrm>
          <a:prstGeom prst="roundRect">
            <a:avLst>
              <a:gd name="adj" fmla="val 9756"/>
            </a:avLst>
          </a:prstGeom>
          <a:solidFill>
            <a:srgbClr val="1A4731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Distance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" y="153619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km-based fuel &amp; driver cost per route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1261872"/>
            <a:ext cx="1993392" cy="749808"/>
          </a:xfrm>
          <a:prstGeom prst="roundRect">
            <a:avLst>
              <a:gd name="adj" fmla="val 9756"/>
            </a:avLst>
          </a:prstGeom>
          <a:solidFill>
            <a:srgbClr val="285C40"/>
          </a:solidFill>
          <a:ln/>
        </p:spPr>
      </p:sp>
      <p:sp>
        <p:nvSpPr>
          <p:cNvPr id="11" name="Text 8"/>
          <p:cNvSpPr/>
          <p:nvPr/>
        </p:nvSpPr>
        <p:spPr>
          <a:xfrm>
            <a:off x="2468880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42032" y="153619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Murram +3.5, Coastal +0.5, Tarmac 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1261872"/>
            <a:ext cx="1993392" cy="749808"/>
          </a:xfrm>
          <a:prstGeom prst="roundRect">
            <a:avLst>
              <a:gd name="adj" fmla="val 9756"/>
            </a:avLst>
          </a:prstGeom>
          <a:solidFill>
            <a:srgbClr val="1E6B44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45152" y="153619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Probox 0, Small lorry +0.5, Ventilated +1.0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75120" y="1261872"/>
            <a:ext cx="1993392" cy="749808"/>
          </a:xfrm>
          <a:prstGeom prst="roundRect">
            <a:avLst>
              <a:gd name="adj" fmla="val 9756"/>
            </a:avLst>
          </a:prstGeom>
          <a:solidFill>
            <a:srgbClr val="2E7D4F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48272" y="153619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high: Isiolo +4.3, Nairobi +4.2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84832"/>
          <a:ext cx="8412480" cy="192024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1325880"/>
                <a:gridCol w="1600200"/>
                <a:gridCol w="13258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Isiolo D1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Kilifi D2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Eastleigh D3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Likoni D4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8"/>
                          </a:solidFill>
                        </a:rPr>
                        <a:t>Maua (S1)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8"/>
                          </a:solidFill>
                        </a:rPr>
                        <a:t>Laare (S2)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1,800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F0E8"/>
                          </a:solidFill>
                        </a:rPr>
                        <a:t>Kangeta (S3)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0E8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1,700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Demand (kg)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A847"/>
                          </a:solidFill>
                        </a:rPr>
                        <a:t>1,500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A847"/>
                          </a:solidFill>
                        </a:rPr>
                        <a:t>1,500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A847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AA847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0B429"/>
                          </a:solidFill>
                        </a:rPr>
                        <a:t>6,000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365760" y="40965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lowest cost per source.  Urgency premiums are counter-intuitively highest for nearby same-day markets, not distant ones.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7498080" y="3200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 IN ACTION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Iterations, Five Decisions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170432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Maua to Isiolo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0" y="1143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kg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7552" y="149047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row penalty = 8 (S1). Lowest cost: 10 at D1. Allocate 1,500 kg. Isiolo satisfied.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2860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Laare to Eastleigh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74720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kg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72491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penalty = 6 (S2). Lowest cost: 16 at D3. Allocate 1,800 kg. Laare exhausted.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52044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3639312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87552" y="3611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Kangeta to Eastleigh (top-up)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47472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87552" y="395935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penalty = 4 (S3). Lowest cost: 17 at D3. Allocate 200 kg. Eastleigh satisfied.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105156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937760" y="1170432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1170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22392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Kangeta to Kilifi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909560" y="1143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kg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22392" y="149047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penalties. Tie broken by largest remaining supply (S3). Allocate 1,500 kg. Kilifi done.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2286000"/>
            <a:ext cx="4206240" cy="1078992"/>
          </a:xfrm>
          <a:prstGeom prst="roundRect">
            <a:avLst>
              <a:gd name="adj" fmla="val 8475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937760" y="2404872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1" name="Text 28"/>
          <p:cNvSpPr/>
          <p:nvPr/>
        </p:nvSpPr>
        <p:spPr>
          <a:xfrm>
            <a:off x="493776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22392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Maua to Likoni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909560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22392" y="272491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source and destination remain. Allocate 1,000 kg. All constraints fulfilled.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 rot="12000000">
            <a:off x="-457200" y="32004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SCHEDULE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931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Optimal Transportation Plan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645920"/>
                <a:gridCol w="137160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Isiolo D1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Kilifi D2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Eastleigh D3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Likoni D4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</a:rPr>
                        <a:t>Maua (S1)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1,500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1,000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2,500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</a:rPr>
                        <a:t>Laare (S2)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1,800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1,800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8"/>
                          </a:solidFill>
                        </a:rPr>
                        <a:t>Kangeta (S3)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1,500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B429"/>
                          </a:solidFill>
                        </a:rPr>
                        <a:t>200 ok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8C4A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1,700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</a:rPr>
                        <a:t>Demand Met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1,500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1,500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2,000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AA847"/>
                          </a:solidFill>
                        </a:rPr>
                        <a:t>1,000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0B429"/>
                          </a:solidFill>
                        </a:rPr>
                        <a:t>6,000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46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11480" y="32918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Maua to Isiolo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11480" y="3639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kg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1480" y="39319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KES 10/kg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11480" y="41696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KES 15,000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29968" y="3246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075688" y="32918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Maua to Likoni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075688" y="3639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075688" y="39319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KES 23/kg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075688" y="41696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KES 23,000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94176" y="3246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739896" y="32918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Laare to Eastleigh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739896" y="3639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kg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739896" y="39319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KES 16/kg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739896" y="41696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KES 28,800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358384" y="3246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404104" y="32918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Kangeta to Kilifi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404104" y="3639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kg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04104" y="39319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KES 21/kg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404104" y="41696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KES 31,500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022592" y="3246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1A473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7068312" y="32918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Kangeta to Eastleigh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068312" y="3639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kg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068312" y="393192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KES 17/kg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068312" y="416966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KES 3,400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-91440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858000" y="27432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101,700</a:t>
            </a:r>
            <a:endParaRPr lang="en-US" sz="7600" dirty="0"/>
          </a:p>
        </p:txBody>
      </p:sp>
      <p:sp>
        <p:nvSpPr>
          <p:cNvPr id="6" name="Text 2"/>
          <p:cNvSpPr/>
          <p:nvPr/>
        </p:nvSpPr>
        <p:spPr>
          <a:xfrm>
            <a:off x="457200" y="1938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Total Transportation Cost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365760" y="257860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473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6576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57200" y="3227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 of 12 possible)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514600" y="257860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473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1460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kg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606040" y="3227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Miraa delivered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spoilage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257860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473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6344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754880" y="3227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&amp; Demand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satisfied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12280" y="2578608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A4731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81228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 KES/kg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903720" y="32278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kilogram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114800"/>
            <a:ext cx="51206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315200" y="-45720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7200000">
            <a:off x="-457200" y="347472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 &amp; INSIGHT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43891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Classroom to the Road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411480" y="1170432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" y="1307592"/>
            <a:ext cx="438912" cy="43891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1307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97280" y="13075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Deployable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1737360"/>
            <a:ext cx="3886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five-route schedule is simple enough for field use without computational tools. Traders can implement it today.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00600" y="1170432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37760" y="1307592"/>
            <a:ext cx="438912" cy="43891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3" name="Text 9"/>
          <p:cNvSpPr/>
          <p:nvPr/>
        </p:nvSpPr>
        <p:spPr>
          <a:xfrm>
            <a:off x="4937760" y="1307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0" y="13075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Logic Embedded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3886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Counter-intuitively, Isiolo's urgency premium (KES 4.3/kg) dwarfs Kilifi's (KES 0.3/kg). Nearby same-day windows are the tightest.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2889504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026664"/>
            <a:ext cx="438912" cy="43891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3026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97280" y="30266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Road-Aware Routing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" y="3456432"/>
            <a:ext cx="3886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Murram road penalties (+3.5 KES/kg for Isiolo routes) reflect real vehicle wear and delay costs, not just kilometres.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00600" y="2889504"/>
            <a:ext cx="4160520" cy="1536192"/>
          </a:xfrm>
          <a:prstGeom prst="roundRect">
            <a:avLst>
              <a:gd name="adj" fmla="val 7143"/>
            </a:avLst>
          </a:prstGeom>
          <a:solidFill>
            <a:srgbClr val="0D2B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37760" y="3026664"/>
            <a:ext cx="438912" cy="43891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3" name="Text 19"/>
          <p:cNvSpPr/>
          <p:nvPr/>
        </p:nvSpPr>
        <p:spPr>
          <a:xfrm>
            <a:off x="4937760" y="3026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0" y="30266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37760" y="3456432"/>
            <a:ext cx="38862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PuLP (Python) or Excel Solver to confirm global optimality. The tied penalty in Iteration 4 warrants a confirmatory run.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solidFill>
            <a:srgbClr val="0D2B1A">
              <a:alpha val="80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8302  Strathmore University  Transportation of Miraa (Meru County) Using VAM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-731520" y="-365760"/>
            <a:ext cx="3200400" cy="320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858000" y="2926080"/>
            <a:ext cx="2926080" cy="29260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"/>
            <a:ext cx="3749040" cy="20116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6" name="Text 1"/>
          <p:cNvSpPr/>
          <p:nvPr/>
        </p:nvSpPr>
        <p:spPr>
          <a:xfrm>
            <a:off x="457200" y="457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8302  Transportation of Miraa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411480" y="1115568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2E7D4F"/>
          </a:solidFill>
          <a:ln/>
        </p:spPr>
      </p:sp>
      <p:sp>
        <p:nvSpPr>
          <p:cNvPr id="8" name="Text 3"/>
          <p:cNvSpPr/>
          <p:nvPr/>
        </p:nvSpPr>
        <p:spPr>
          <a:xfrm>
            <a:off x="411480" y="11155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868680" y="1115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520440" y="11155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No.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11480" y="1572768"/>
            <a:ext cx="5120640" cy="420624"/>
          </a:xfrm>
          <a:prstGeom prst="rect">
            <a:avLst/>
          </a:prstGeom>
          <a:solidFill>
            <a:srgbClr val="1A4731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75488" y="16367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3" name="Text 8"/>
          <p:cNvSpPr/>
          <p:nvPr/>
        </p:nvSpPr>
        <p:spPr>
          <a:xfrm>
            <a:off x="475488" y="1636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841248" y="16276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Muasya Wambua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493008" y="16276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121544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2029968"/>
            <a:ext cx="5120640" cy="420624"/>
          </a:xfrm>
          <a:prstGeom prst="rect">
            <a:avLst/>
          </a:prstGeom>
          <a:solidFill>
            <a:srgbClr val="142A1F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5488" y="20939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8" name="Text 13"/>
          <p:cNvSpPr/>
          <p:nvPr/>
        </p:nvSpPr>
        <p:spPr>
          <a:xfrm>
            <a:off x="475488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41248" y="20848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Simion Mike Mbumbu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493008" y="20848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222076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11480" y="2487168"/>
            <a:ext cx="5120640" cy="420624"/>
          </a:xfrm>
          <a:prstGeom prst="rect">
            <a:avLst/>
          </a:prstGeom>
          <a:solidFill>
            <a:srgbClr val="1A4731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" y="25511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3" name="Text 18"/>
          <p:cNvSpPr/>
          <p:nvPr/>
        </p:nvSpPr>
        <p:spPr>
          <a:xfrm>
            <a:off x="47548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41248" y="25420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Fridah Nkirote Mutabari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493008" y="25420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111033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11480" y="2944368"/>
            <a:ext cx="5120640" cy="420624"/>
          </a:xfrm>
          <a:prstGeom prst="rect">
            <a:avLst/>
          </a:prstGeom>
          <a:solidFill>
            <a:srgbClr val="142A1F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5488" y="30083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8" name="Text 23"/>
          <p:cNvSpPr/>
          <p:nvPr/>
        </p:nvSpPr>
        <p:spPr>
          <a:xfrm>
            <a:off x="475488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41248" y="29992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Moraa Omweri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493008" y="29992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223763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11480" y="3401568"/>
            <a:ext cx="5120640" cy="420624"/>
          </a:xfrm>
          <a:prstGeom prst="rect">
            <a:avLst/>
          </a:prstGeom>
          <a:solidFill>
            <a:srgbClr val="1A4731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75488" y="34655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3" name="Text 28"/>
          <p:cNvSpPr/>
          <p:nvPr/>
        </p:nvSpPr>
        <p:spPr>
          <a:xfrm>
            <a:off x="475488" y="3465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41248" y="34564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Esther Muthui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3493008" y="34564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223932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11480" y="3858768"/>
            <a:ext cx="5120640" cy="420624"/>
          </a:xfrm>
          <a:prstGeom prst="rect">
            <a:avLst/>
          </a:prstGeom>
          <a:solidFill>
            <a:srgbClr val="142A1F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75488" y="39227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8" name="Text 33"/>
          <p:cNvSpPr/>
          <p:nvPr/>
        </p:nvSpPr>
        <p:spPr>
          <a:xfrm>
            <a:off x="475488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41248" y="39136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Kioko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3493008" y="39136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224157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411480" y="4315968"/>
            <a:ext cx="5120640" cy="420624"/>
          </a:xfrm>
          <a:prstGeom prst="rect">
            <a:avLst/>
          </a:prstGeom>
          <a:solidFill>
            <a:srgbClr val="1A4731"/>
          </a:solidFill>
          <a:ln w="6350">
            <a:solidFill>
              <a:srgbClr val="2E7D4F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75488" y="4379976"/>
            <a:ext cx="292608" cy="29260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43" name="Text 38"/>
          <p:cNvSpPr/>
          <p:nvPr/>
        </p:nvSpPr>
        <p:spPr>
          <a:xfrm>
            <a:off x="475488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41248" y="437083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Valerie Jerono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3493008" y="4370832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222331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Strathmore University  Institute of Mathematical Sciences  2024/2025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Miraa Transportation VAM</dc:title>
  <dc:subject>PptxGenJS Presentation</dc:subject>
  <dc:creator>PptxGenJS</dc:creator>
  <cp:lastModifiedBy>PptxGenJS</cp:lastModifiedBy>
  <cp:revision>1</cp:revision>
  <dcterms:created xsi:type="dcterms:W3CDTF">2026-06-18T12:34:44Z</dcterms:created>
  <dcterms:modified xsi:type="dcterms:W3CDTF">2026-06-18T12:34:44Z</dcterms:modified>
</cp:coreProperties>
</file>